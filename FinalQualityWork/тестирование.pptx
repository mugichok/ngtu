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9144000" cy="5143500" type="screen16x9"/>
  <p:notesSz cx="7315200" cy="96012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4" d="100"/>
          <a:sy n="124" d="100"/>
        </p:scale>
        <p:origin x="274" y="91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87FED33-D328-45C2-B91A-83B438B4C41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7550DF4-E479-4FC1-BAC7-78E3D4666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93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65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126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210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23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691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274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216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687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C938B-0DA2-4448-9396-E3D6B6592B57}" type="datetime1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C938B-0DA2-4448-9396-E3D6B6592B57}" type="datetime1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8473-29C1-4E38-9693-78112B8E8A00}" type="datetime1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43326F-15DF-455F-B9E6-C0CE4A481B5D}" type="datetime1">
              <a:rPr lang="ru-RU" smtClean="0"/>
              <a:pPr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69F336-2DD4-44CE-8205-AE3F61CEB7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04C6E-9B24-454D-9475-909125905394}" type="datetime1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E23A4-FFB4-4197-8E90-81B496FF21F2}" type="datetime1">
              <a:rPr lang="ru-RU" smtClean="0"/>
              <a:t>18.11.2025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6EA0-727C-425F-9DC7-DF28038F580D}" type="datetime1">
              <a:rPr lang="ru-RU" smtClean="0"/>
              <a:t>18.11.2025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5BD2C-6379-4ADB-895E-EA14E58B08BD}" type="datetime1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02FBE-660B-4788-93E5-23F80C221E14}" type="datetime1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428741"/>
            <a:ext cx="8229600" cy="3165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88AE213-E076-4E30-856F-02825387B9E6}" type="datetime1">
              <a:rPr lang="ru-RU" smtClean="0"/>
              <a:pPr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A69F336-2DD4-44CE-8205-AE3F61CEB7C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0" r:id="rId4"/>
    <p:sldLayoutId id="2147483652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613891"/>
          </a:xfrm>
        </p:spPr>
        <p:txBody>
          <a:bodyPr>
            <a:normAutofit/>
          </a:bodyPr>
          <a:lstStyle/>
          <a:p>
            <a:r>
              <a:rPr lang="ru-RU" sz="3200" dirty="0"/>
              <a:t>Тест-план №1</a:t>
            </a:r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685800" y="2355726"/>
            <a:ext cx="7772400" cy="131445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Тестирование информационной системы «Расчётный конвейер»</a:t>
            </a:r>
          </a:p>
          <a:p>
            <a:r>
              <a:rPr lang="ru-RU" dirty="0"/>
              <a:t>Тема: «Разработка информационной системы для учёта и сопровождения сделок эквайринга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4069" y="4396101"/>
            <a:ext cx="1382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200" dirty="0">
                <a:solidFill>
                  <a:srgbClr val="FFFFFF"/>
                </a:solidFill>
              </a:rPr>
              <a:t>Нижний Новгород</a:t>
            </a:r>
          </a:p>
          <a:p>
            <a:pPr algn="r"/>
            <a:r>
              <a:rPr lang="ru-RU" sz="1200" dirty="0">
                <a:solidFill>
                  <a:srgbClr val="FFFFFF"/>
                </a:solidFill>
              </a:rPr>
              <a:t>2025 год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20" y="4272991"/>
            <a:ext cx="17402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FFFFFF"/>
                </a:solidFill>
              </a:rPr>
              <a:t>Новосельцев А. 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</p:spPr>
        <p:txBody>
          <a:bodyPr>
            <a:normAutofit/>
          </a:bodyPr>
          <a:lstStyle/>
          <a:p>
            <a:r>
              <a:rPr lang="ru-RU" dirty="0"/>
              <a:t>Введение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2</a:t>
            </a:fld>
            <a:endParaRPr lang="ru-RU"/>
          </a:p>
        </p:txBody>
      </p:sp>
      <p:sp>
        <p:nvSpPr>
          <p:cNvPr id="16" name="Подзаголовок 6">
            <a:extLst>
              <a:ext uri="{FF2B5EF4-FFF2-40B4-BE49-F238E27FC236}">
                <a16:creationId xmlns:a16="http://schemas.microsoft.com/office/drawing/2014/main" id="{F8E89ABA-374F-4401-8445-7A09744BF987}"/>
              </a:ext>
            </a:extLst>
          </p:cNvPr>
          <p:cNvSpPr txBox="1">
            <a:spLocks/>
          </p:cNvSpPr>
          <p:nvPr/>
        </p:nvSpPr>
        <p:spPr>
          <a:xfrm>
            <a:off x="251520" y="1491629"/>
            <a:ext cx="8784976" cy="2294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Тест-план разработан для проверки функционала информационной системы «Расчётный конвейер». Информационная система предназначена для создания и сопровождения сделок эквайринга. Эта система является связующим звеном между разными банковскими подразделениями. Предоставляет доступ к общей базе клиентов сотрудникам с несколькими ролями, но предоставляет разный функционал.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</p:spPr>
        <p:txBody>
          <a:bodyPr>
            <a:normAutofit/>
          </a:bodyPr>
          <a:lstStyle/>
          <a:p>
            <a:r>
              <a:rPr lang="ru-RU" dirty="0"/>
              <a:t>Перечень тестов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3</a:t>
            </a:fld>
            <a:endParaRPr lang="ru-RU"/>
          </a:p>
        </p:txBody>
      </p:sp>
      <p:sp>
        <p:nvSpPr>
          <p:cNvPr id="16" name="Подзаголовок 6">
            <a:extLst>
              <a:ext uri="{FF2B5EF4-FFF2-40B4-BE49-F238E27FC236}">
                <a16:creationId xmlns:a16="http://schemas.microsoft.com/office/drawing/2014/main" id="{F8E89ABA-374F-4401-8445-7A09744BF987}"/>
              </a:ext>
            </a:extLst>
          </p:cNvPr>
          <p:cNvSpPr txBox="1">
            <a:spLocks/>
          </p:cNvSpPr>
          <p:nvPr/>
        </p:nvSpPr>
        <p:spPr>
          <a:xfrm>
            <a:off x="179512" y="1288811"/>
            <a:ext cx="8784976" cy="2363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sz="1600" dirty="0"/>
              <a:t>Авторизация зарегистрированного пользователя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Создание карточки клиента;</a:t>
            </a:r>
          </a:p>
          <a:p>
            <a:pPr lvl="0"/>
            <a:r>
              <a:rPr lang="ru-RU" sz="1600" dirty="0"/>
              <a:t>Поиск карточки клиента в общей базе;</a:t>
            </a:r>
          </a:p>
          <a:p>
            <a:pPr lvl="0"/>
            <a:r>
              <a:rPr lang="ru-RU" sz="1600" dirty="0"/>
              <a:t>Создание сервисной заявки;</a:t>
            </a:r>
          </a:p>
          <a:p>
            <a:pPr lvl="0"/>
            <a:r>
              <a:rPr lang="ru-RU" sz="1600" dirty="0"/>
              <a:t>Просмотр созданной пользователем сделки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Тестирование модуля подключения к БД;</a:t>
            </a:r>
          </a:p>
          <a:p>
            <a:pPr lvl="0"/>
            <a:r>
              <a:rPr lang="ru-RU" sz="1600" dirty="0"/>
              <a:t>Тестирование модуля интеграции с пользовательским интерфейсом;</a:t>
            </a:r>
          </a:p>
        </p:txBody>
      </p:sp>
    </p:spTree>
    <p:extLst>
      <p:ext uri="{BB962C8B-B14F-4D97-AF65-F5344CB8AC3E}">
        <p14:creationId xmlns:p14="http://schemas.microsoft.com/office/powerpoint/2010/main" val="287818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4599" y="660958"/>
            <a:ext cx="8229600" cy="10635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Функционал, подлежащий тестированию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4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D384CC-0F0E-4946-8872-B7F885004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875226"/>
            <a:ext cx="8229600" cy="3165881"/>
          </a:xfrm>
        </p:spPr>
        <p:txBody>
          <a:bodyPr>
            <a:normAutofit/>
          </a:bodyPr>
          <a:lstStyle/>
          <a:p>
            <a:pPr lvl="0"/>
            <a:r>
              <a:rPr lang="ru-RU" sz="1700" dirty="0"/>
              <a:t>Создание карточки клиента пользователем;</a:t>
            </a:r>
          </a:p>
          <a:p>
            <a:pPr lvl="0"/>
            <a:r>
              <a:rPr lang="ru-RU" sz="1700" dirty="0"/>
              <a:t>Поиск и открытие карточки клиента в общей базе;</a:t>
            </a:r>
          </a:p>
          <a:p>
            <a:pPr lvl="0"/>
            <a:r>
              <a:rPr lang="ru-RU" sz="1700" dirty="0"/>
              <a:t>Открытие карточки клиента из перечня созданных менеджером;</a:t>
            </a:r>
          </a:p>
          <a:p>
            <a:pPr lvl="0"/>
            <a:r>
              <a:rPr lang="ru-RU" sz="1700" dirty="0"/>
              <a:t>Создание сервисной заявки</a:t>
            </a:r>
            <a:r>
              <a:rPr lang="en-US" sz="1700" dirty="0"/>
              <a:t>;</a:t>
            </a:r>
            <a:endParaRPr lang="ru-RU" sz="1700" dirty="0"/>
          </a:p>
          <a:p>
            <a:pPr lvl="0"/>
            <a:r>
              <a:rPr lang="ru-RU" sz="1700" dirty="0"/>
              <a:t>Авторизация пользователя.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77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31727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Подходы, используемые для тестирования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5</a:t>
            </a:fld>
            <a:endParaRPr lang="ru-RU"/>
          </a:p>
        </p:txBody>
      </p:sp>
      <p:sp>
        <p:nvSpPr>
          <p:cNvPr id="5" name="Подзаголовок 6">
            <a:extLst>
              <a:ext uri="{FF2B5EF4-FFF2-40B4-BE49-F238E27FC236}">
                <a16:creationId xmlns:a16="http://schemas.microsoft.com/office/drawing/2014/main" id="{187EECC1-69C7-483F-8AA9-FE95DD49D3CC}"/>
              </a:ext>
            </a:extLst>
          </p:cNvPr>
          <p:cNvSpPr txBox="1">
            <a:spLocks/>
          </p:cNvSpPr>
          <p:nvPr/>
        </p:nvSpPr>
        <p:spPr>
          <a:xfrm>
            <a:off x="363130" y="2046590"/>
            <a:ext cx="8784976" cy="2363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sz="1600" dirty="0"/>
              <a:t>Чёрный ящик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Модульное тестирование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Интеграционное тестирование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Стресс-тестирование</a:t>
            </a:r>
            <a:r>
              <a:rPr lang="en-US" sz="1600" dirty="0"/>
              <a:t>;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25684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Критерии приёмки тестирования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6</a:t>
            </a:fld>
            <a:endParaRPr lang="ru-RU"/>
          </a:p>
        </p:txBody>
      </p:sp>
      <p:sp>
        <p:nvSpPr>
          <p:cNvPr id="8" name="Подзаголовок 6">
            <a:extLst>
              <a:ext uri="{FF2B5EF4-FFF2-40B4-BE49-F238E27FC236}">
                <a16:creationId xmlns:a16="http://schemas.microsoft.com/office/drawing/2014/main" id="{6F7F8D65-8440-480A-BBA9-F1AAB898FD8B}"/>
              </a:ext>
            </a:extLst>
          </p:cNvPr>
          <p:cNvSpPr txBox="1">
            <a:spLocks/>
          </p:cNvSpPr>
          <p:nvPr/>
        </p:nvSpPr>
        <p:spPr>
          <a:xfrm>
            <a:off x="251520" y="1635646"/>
            <a:ext cx="8784976" cy="2363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Для успешного проведения тестирования необходимо достичь результатов: </a:t>
            </a:r>
          </a:p>
          <a:p>
            <a:pPr lvl="0"/>
            <a:r>
              <a:rPr lang="ru-RU" sz="1600" dirty="0"/>
              <a:t>Процент неуспешных тестов менее 3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Ошибок высокого приоритета не найдено;</a:t>
            </a:r>
          </a:p>
          <a:p>
            <a:pPr lvl="0"/>
            <a:r>
              <a:rPr lang="ru-RU" sz="1600" dirty="0"/>
              <a:t>Падений системы не более 1 за время тестирования</a:t>
            </a:r>
            <a:r>
              <a:rPr lang="en-US" sz="1600" dirty="0"/>
              <a:t>;</a:t>
            </a:r>
          </a:p>
          <a:p>
            <a:pPr lvl="0"/>
            <a:r>
              <a:rPr lang="ru-RU" sz="1600" dirty="0"/>
              <a:t>Отдельные модули системы работают как совместно, так и раздельно</a:t>
            </a:r>
            <a:r>
              <a:rPr lang="en-US" sz="1600" dirty="0"/>
              <a:t>;</a:t>
            </a:r>
          </a:p>
          <a:p>
            <a:pPr lvl="0"/>
            <a:r>
              <a:rPr lang="ru-RU" sz="1600" dirty="0"/>
              <a:t>Отображаются все элементы графического интерфейса с заданными стилями</a:t>
            </a:r>
            <a:r>
              <a:rPr lang="en-US" sz="1600" dirty="0"/>
              <a:t>;</a:t>
            </a:r>
          </a:p>
          <a:p>
            <a:pPr lvl="0"/>
            <a:r>
              <a:rPr lang="ru-RU" sz="1600" dirty="0"/>
              <a:t>Время загрузки менее 5 секунд</a:t>
            </a:r>
            <a:r>
              <a:rPr lang="en-US" sz="1600" dirty="0"/>
              <a:t>.</a:t>
            </a:r>
          </a:p>
          <a:p>
            <a:pPr lvl="0"/>
            <a:endParaRPr lang="ru-RU" sz="1600" dirty="0"/>
          </a:p>
          <a:p>
            <a:pPr lvl="0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46268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06300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Критерии приостановления</a:t>
            </a:r>
            <a:r>
              <a:rPr lang="en-US" b="1" dirty="0"/>
              <a:t> </a:t>
            </a:r>
            <a:r>
              <a:rPr lang="ru-RU" b="1" dirty="0"/>
              <a:t>и возобновления тестирования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7</a:t>
            </a:fld>
            <a:endParaRPr lang="ru-RU"/>
          </a:p>
        </p:txBody>
      </p:sp>
      <p:sp>
        <p:nvSpPr>
          <p:cNvPr id="16" name="Подзаголовок 6">
            <a:extLst>
              <a:ext uri="{FF2B5EF4-FFF2-40B4-BE49-F238E27FC236}">
                <a16:creationId xmlns:a16="http://schemas.microsoft.com/office/drawing/2014/main" id="{F8E89ABA-374F-4401-8445-7A09744BF987}"/>
              </a:ext>
            </a:extLst>
          </p:cNvPr>
          <p:cNvSpPr txBox="1">
            <a:spLocks/>
          </p:cNvSpPr>
          <p:nvPr/>
        </p:nvSpPr>
        <p:spPr>
          <a:xfrm>
            <a:off x="251520" y="1851670"/>
            <a:ext cx="8784976" cy="2294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sz="1600" dirty="0"/>
              <a:t>Выявлены 3 и более процентов неуспешных тестов;</a:t>
            </a:r>
          </a:p>
          <a:p>
            <a:pPr lvl="0"/>
            <a:r>
              <a:rPr lang="ru-RU" sz="1600" dirty="0"/>
              <a:t>Выявлении ошибки высокого приоритета тестирование приостанавливается с целью доработки системы;</a:t>
            </a:r>
          </a:p>
          <a:p>
            <a:pPr lvl="0"/>
            <a:r>
              <a:rPr lang="ru-RU" sz="1600" dirty="0"/>
              <a:t>Система нестабильна (более 1 падения за время тестирования);</a:t>
            </a:r>
          </a:p>
          <a:p>
            <a:pPr lvl="0"/>
            <a:endParaRPr lang="ru-RU" sz="1600" dirty="0"/>
          </a:p>
          <a:p>
            <a:r>
              <a:rPr lang="ru-RU" sz="1600" dirty="0"/>
              <a:t>При исправлении выявленных ранее ошибок тестирование подлежит возобновлению.</a:t>
            </a:r>
          </a:p>
          <a:p>
            <a:pPr lvl="0"/>
            <a:endParaRPr lang="ru-RU" sz="1600" dirty="0"/>
          </a:p>
          <a:p>
            <a:pPr marL="0" indent="0" algn="just">
              <a:buNone/>
            </a:pPr>
            <a:endParaRPr lang="ru-RU" sz="18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47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5790" y="1220133"/>
            <a:ext cx="8229600" cy="27149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Результаты тестирования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8</a:t>
            </a:fld>
            <a:endParaRPr lang="ru-RU"/>
          </a:p>
        </p:txBody>
      </p:sp>
      <p:sp>
        <p:nvSpPr>
          <p:cNvPr id="16" name="Подзаголовок 6">
            <a:extLst>
              <a:ext uri="{FF2B5EF4-FFF2-40B4-BE49-F238E27FC236}">
                <a16:creationId xmlns:a16="http://schemas.microsoft.com/office/drawing/2014/main" id="{F8E89ABA-374F-4401-8445-7A09744BF987}"/>
              </a:ext>
            </a:extLst>
          </p:cNvPr>
          <p:cNvSpPr txBox="1">
            <a:spLocks/>
          </p:cNvSpPr>
          <p:nvPr/>
        </p:nvSpPr>
        <p:spPr>
          <a:xfrm>
            <a:off x="251520" y="1491629"/>
            <a:ext cx="8784976" cy="2294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latin typeface="+mj-lt"/>
                <a:cs typeface="Times New Roman" panose="02020603050405020304" pitchFamily="18" charset="0"/>
              </a:rPr>
              <a:t>Р</a:t>
            </a:r>
            <a:r>
              <a:rPr lang="ru-RU" sz="1600" dirty="0"/>
              <a:t>езультатами тестирования будут являться сведения:</a:t>
            </a:r>
          </a:p>
          <a:p>
            <a:pPr lvl="0"/>
            <a:r>
              <a:rPr lang="ru-RU" sz="1600" dirty="0"/>
              <a:t>О наборе проведённых тестов;</a:t>
            </a:r>
          </a:p>
          <a:p>
            <a:pPr lvl="0"/>
            <a:r>
              <a:rPr lang="ru-RU" sz="1600" dirty="0"/>
              <a:t>О приоритете этих тестов; </a:t>
            </a:r>
          </a:p>
          <a:p>
            <a:pPr lvl="0"/>
            <a:r>
              <a:rPr lang="ru-RU" sz="1600" dirty="0"/>
              <a:t>О количестве воспроизведения каждого из тестов;</a:t>
            </a:r>
          </a:p>
          <a:p>
            <a:pPr lvl="0"/>
            <a:r>
              <a:rPr lang="ru-RU" sz="1600" dirty="0"/>
              <a:t>О количестве неуспешных тестов;</a:t>
            </a:r>
          </a:p>
          <a:p>
            <a:pPr lvl="0"/>
            <a:r>
              <a:rPr lang="ru-RU" sz="1600" dirty="0"/>
              <a:t>О функционале, который тестировался.</a:t>
            </a:r>
          </a:p>
        </p:txBody>
      </p:sp>
    </p:spTree>
    <p:extLst>
      <p:ext uri="{BB962C8B-B14F-4D97-AF65-F5344CB8AC3E}">
        <p14:creationId xmlns:p14="http://schemas.microsoft.com/office/powerpoint/2010/main" val="232734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</p:spPr>
        <p:txBody>
          <a:bodyPr>
            <a:normAutofit/>
          </a:bodyPr>
          <a:lstStyle/>
          <a:p>
            <a:r>
              <a:rPr lang="ru-RU" dirty="0"/>
              <a:t>Задачи тестирования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9</a:t>
            </a:fld>
            <a:endParaRPr lang="ru-RU"/>
          </a:p>
        </p:txBody>
      </p:sp>
      <p:sp>
        <p:nvSpPr>
          <p:cNvPr id="16" name="Подзаголовок 6">
            <a:extLst>
              <a:ext uri="{FF2B5EF4-FFF2-40B4-BE49-F238E27FC236}">
                <a16:creationId xmlns:a16="http://schemas.microsoft.com/office/drawing/2014/main" id="{F8E89ABA-374F-4401-8445-7A09744BF987}"/>
              </a:ext>
            </a:extLst>
          </p:cNvPr>
          <p:cNvSpPr txBox="1">
            <a:spLocks/>
          </p:cNvSpPr>
          <p:nvPr/>
        </p:nvSpPr>
        <p:spPr>
          <a:xfrm>
            <a:off x="251520" y="1491629"/>
            <a:ext cx="8784976" cy="2294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sz="1600" dirty="0"/>
              <a:t>Провести все заявленные тесты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Выявить ошибки при их наличии;</a:t>
            </a:r>
          </a:p>
          <a:p>
            <a:pPr lvl="0"/>
            <a:r>
              <a:rPr lang="ru-RU" sz="1600" dirty="0"/>
              <a:t>Зафиксировать результаты каждого теста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При несоблюдении критериев приёмки вернуть систему на доработку;</a:t>
            </a:r>
          </a:p>
          <a:p>
            <a:pPr lvl="0"/>
            <a:r>
              <a:rPr lang="ru-RU" sz="1600" dirty="0"/>
              <a:t>Акцептовать версию системы при соблюдении критериев приёмки.</a:t>
            </a:r>
          </a:p>
        </p:txBody>
      </p:sp>
    </p:spTree>
    <p:extLst>
      <p:ext uri="{BB962C8B-B14F-4D97-AF65-F5344CB8AC3E}">
        <p14:creationId xmlns:p14="http://schemas.microsoft.com/office/powerpoint/2010/main" val="16169800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rgbClr val="244061"/>
      </a:dk1>
      <a:lt1>
        <a:srgbClr val="DBE5F1"/>
      </a:lt1>
      <a:dk2>
        <a:srgbClr val="953734"/>
      </a:dk2>
      <a:lt2>
        <a:srgbClr val="F2DCDB"/>
      </a:lt2>
      <a:accent1>
        <a:srgbClr val="95B3D7"/>
      </a:accent1>
      <a:accent2>
        <a:srgbClr val="366092"/>
      </a:accent2>
      <a:accent3>
        <a:srgbClr val="17365D"/>
      </a:accent3>
      <a:accent4>
        <a:srgbClr val="E5B9B7"/>
      </a:accent4>
      <a:accent5>
        <a:srgbClr val="D99694"/>
      </a:accent5>
      <a:accent6>
        <a:srgbClr val="953734"/>
      </a:accent6>
      <a:hlink>
        <a:srgbClr val="C00000"/>
      </a:hlink>
      <a:folHlink>
        <a:srgbClr val="00206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2436</TotalTime>
  <Words>358</Words>
  <Application>Microsoft Office PowerPoint</Application>
  <PresentationFormat>Экран (16:9)</PresentationFormat>
  <Paragraphs>70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Тема Office</vt:lpstr>
      <vt:lpstr>Тест-план №1</vt:lpstr>
      <vt:lpstr>Введение</vt:lpstr>
      <vt:lpstr>Перечень тестов</vt:lpstr>
      <vt:lpstr>Функционал, подлежащий тестированию</vt:lpstr>
      <vt:lpstr>Подходы, используемые для тестирования</vt:lpstr>
      <vt:lpstr>Критерии приёмки тестирования</vt:lpstr>
      <vt:lpstr>Критерии приостановления и возобновления тестирования </vt:lpstr>
      <vt:lpstr>Результаты тестирования </vt:lpstr>
      <vt:lpstr>Задачи тестирования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HP</dc:creator>
  <cp:lastModifiedBy>Андрец Новосельцев</cp:lastModifiedBy>
  <cp:revision>155</cp:revision>
  <cp:lastPrinted>2020-11-10T18:12:54Z</cp:lastPrinted>
  <dcterms:created xsi:type="dcterms:W3CDTF">2020-04-22T07:05:13Z</dcterms:created>
  <dcterms:modified xsi:type="dcterms:W3CDTF">2025-11-18T15:52:42Z</dcterms:modified>
</cp:coreProperties>
</file>